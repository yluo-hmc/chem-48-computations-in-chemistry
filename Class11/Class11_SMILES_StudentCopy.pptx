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Economica"/>
      <p:regular r:id="rId11"/>
      <p:bold r:id="rId12"/>
      <p:italic r:id="rId13"/>
      <p:boldItalic r:id="rId14"/>
    </p:embeddedFont>
    <p:embeddedFont>
      <p:font typeface="Roboto Mono"/>
      <p:regular r:id="rId15"/>
      <p:bold r:id="rId16"/>
      <p:italic r:id="rId17"/>
      <p:boldItalic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font" Target="fonts/Economica-regular.fntdata"/><Relationship Id="rId22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21" Type="http://schemas.openxmlformats.org/officeDocument/2006/relationships/font" Target="fonts/OpenSans-italic.fntdata"/><Relationship Id="rId13" Type="http://schemas.openxmlformats.org/officeDocument/2006/relationships/font" Target="fonts/Economica-italic.fntdata"/><Relationship Id="rId12" Type="http://schemas.openxmlformats.org/officeDocument/2006/relationships/font" Target="fonts/Economic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regular.fntdata"/><Relationship Id="rId14" Type="http://schemas.openxmlformats.org/officeDocument/2006/relationships/font" Target="fonts/Economica-boldItalic.fntdata"/><Relationship Id="rId17" Type="http://schemas.openxmlformats.org/officeDocument/2006/relationships/font" Target="fonts/RobotoMono-italic.fntdata"/><Relationship Id="rId16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regular.fntdata"/><Relationship Id="rId6" Type="http://schemas.openxmlformats.org/officeDocument/2006/relationships/slide" Target="slides/slide1.xml"/><Relationship Id="rId18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ca04010022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ca0401002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ca04010022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ca04010022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ca0401002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ca0401002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ca04010022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ca04010022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SMILES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6317600" y="194400"/>
            <a:ext cx="2514600" cy="44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the rules you can observe?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Triple bond is #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If you want to write hydrogens, write them with main atom in brackets 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Equals sign means double bond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Parentheses denote additional groups bonded to atom directly before</a:t>
            </a:r>
            <a:endParaRPr/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650" y="414400"/>
            <a:ext cx="5636575" cy="4027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69;p14"/>
          <p:cNvCxnSpPr/>
          <p:nvPr/>
        </p:nvCxnSpPr>
        <p:spPr>
          <a:xfrm>
            <a:off x="6220400" y="116625"/>
            <a:ext cx="0" cy="48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6317600" y="194400"/>
            <a:ext cx="2514600" cy="44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the rules you can observe?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Brackets can also be used to write ions</a:t>
            </a:r>
            <a:endParaRPr/>
          </a:p>
        </p:txBody>
      </p:sp>
      <p:cxnSp>
        <p:nvCxnSpPr>
          <p:cNvPr id="75" name="Google Shape;75;p15"/>
          <p:cNvCxnSpPr/>
          <p:nvPr/>
        </p:nvCxnSpPr>
        <p:spPr>
          <a:xfrm>
            <a:off x="6220400" y="116625"/>
            <a:ext cx="0" cy="48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400" y="929100"/>
            <a:ext cx="6012800" cy="29975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6317600" y="194400"/>
            <a:ext cx="2514600" cy="44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the rules you can observe?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</a:t>
            </a:r>
            <a:r>
              <a:rPr lang="en"/>
              <a:t>separate</a:t>
            </a:r>
            <a:r>
              <a:rPr lang="en"/>
              <a:t> side chain with () from the main group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= stands for double bond </a:t>
            </a:r>
            <a:endParaRPr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250" y="968825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8475" y="87165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874875" y="3168500"/>
            <a:ext cx="3978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B</a:t>
            </a:r>
            <a:r>
              <a:rPr lang="en" sz="2000">
                <a:solidFill>
                  <a:schemeClr val="dk1"/>
                </a:solidFill>
              </a:rPr>
              <a:t>oth the following strings are correct for Propionic Acid: </a:t>
            </a:r>
            <a:r>
              <a:rPr lang="en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CCC(=O)O</a:t>
            </a:r>
            <a:r>
              <a:rPr lang="en" sz="2000">
                <a:solidFill>
                  <a:schemeClr val="dk1"/>
                </a:solidFill>
              </a:rPr>
              <a:t>, </a:t>
            </a:r>
            <a:r>
              <a:rPr lang="en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CCC(O)=O</a:t>
            </a:r>
            <a:endParaRPr sz="2300"/>
          </a:p>
        </p:txBody>
      </p:sp>
      <p:cxnSp>
        <p:nvCxnSpPr>
          <p:cNvPr id="85" name="Google Shape;85;p16"/>
          <p:cNvCxnSpPr/>
          <p:nvPr/>
        </p:nvCxnSpPr>
        <p:spPr>
          <a:xfrm>
            <a:off x="6220400" y="116625"/>
            <a:ext cx="0" cy="48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6317600" y="194400"/>
            <a:ext cx="2514600" cy="44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the rules you can observe?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Number carbons for ring structure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Start and end both are carbon 1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Parentheses for whatever is outside of main ring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Number a carbon for each ring in your structure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When rings are connected, C1, C2, etc. are the </a:t>
            </a:r>
            <a:r>
              <a:rPr lang="en"/>
              <a:t>innermost carbons</a:t>
            </a:r>
            <a:endParaRPr/>
          </a:p>
        </p:txBody>
      </p:sp>
      <p:cxnSp>
        <p:nvCxnSpPr>
          <p:cNvPr id="91" name="Google Shape;91;p17"/>
          <p:cNvCxnSpPr/>
          <p:nvPr/>
        </p:nvCxnSpPr>
        <p:spPr>
          <a:xfrm>
            <a:off x="6220400" y="116625"/>
            <a:ext cx="0" cy="48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90496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